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4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8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7" r:id="rId22"/>
    <p:sldId id="278" r:id="rId23"/>
    <p:sldId id="279" r:id="rId24"/>
    <p:sldId id="280" r:id="rId25"/>
    <p:sldId id="276" r:id="rId26"/>
    <p:sldId id="281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分享一份关于代码优化的详细报告。我们将以经典的CIFAR-10图像分类任务为例，深入探讨从一段基础代码出发，如何通过系统性的问题诊断、工程化修复和算法策略优化，最终实现模型性能的显著提升。这份报告不仅是技术的分享，更是一次完整的实验复盘和工程实践的总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五个部分。首先，我们会简单回顾项目背景和原始代码的结构。接着，重点分析原始代码中存在的核心问题并给出修复方案。第三部分，我们将详细介绍引入的关键优化策略及其背后的技术原理。第四部分，我会分享在实验过程中遇到的一些典型问题和解决思路。最后，对整个优化过程进行总结并展望未来的改进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现在，让我们进入第一部分：项目背景与原代码回顾。在开始优化之前，我们需要先了解我们的实验对象——CIFAR-10数据集，以及我们将要优化的原始代码结构。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实验基于CIFAR-10数据集。这个数据集包含6万张32x32的小尺寸彩色图片，涵盖了飞机、汽车等10个常见物体类别。其中5万张作为训练集，1万张作为测试集，是检验我们模型性能的理想基准。右边这张图展示了数据集中各个类别的一些样例，可以看到图片分辨率较低，分类具有一定挑战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要优化的原始代码所采用的网络结构，一个非常简单的CNN，我们称之为SimpleCNN。它由两层卷积层和两层全连接层构成。输入是32x32的彩色图片，经过两次卷积和池化后，特征图尺寸缩小到8x8，深度增加到32。然后通过两层全连接层，最终输出10个类别的预测概率。这个结构虽然简单，但足以作为我们优化的起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接下来，我们进入第二部分，对原始代码进行全面的“体检”，找出其中存在的各种问题，并逐一进行修复。这些问题涵盖了从基础的语法错误到更深层次的工程化缺陷。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严重问题是没有利用GPU进行加速。CNN的卷积操作本质上是大规模的矩阵运算，非常适合并行处理。而GPU正是为这种场景设计的，其并行计算能力远超CPU。原始代码在CPU上运行，训练会极其耗时。我们的修复方案是，在代码中显式地将模型和所有输入数据都移动到GPU上，充分利用硬件资源，这是现代深度学习训练的标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修复了基础问题后，我们进入更核心的环节：对模型和训练策略进行优化升级。这一部分将介绍我们引入的几个关键技术，并解释它们背后的原理。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优化是代码的工程化改造——模块化设计。我们将训练和测试这两个核心流程封装成了独立的函数。这样做的好处是显而易见的：代码结构更清晰，降低了各部分之间的耦合度；同时极大地提高了代码的复用性，让我们后续进行多组对比实验变得非常方便。这是写出高质量、可维护代码的基本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算法层面的优化。我们引入了Mixup数据增强技术。它的核心思想很简单：如右图所示，将两张图片按一定比例混合，生成一张新图片，同时标签也按相同比例混合。这样做的目的是让模型学习到更平滑的决策边界，而不是在训练数据上死记硬背。这是一种非常有效的正则化手段，能够显著提升模型的泛化能力，防止过拟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关键优化是学习率调度策略——Warmup。简单来说，就是让学习率在训练初期从很小的值慢慢增加到预设值。这就像运动员在比赛前需要热身一样，模型在参数随机的初始阶段，也需要一个小步快跑的适应过程，避免因步子太大而“摔倒”（梯度爆炸）。通过Warmup，我们可以让整个训练过程更加平稳，为后续的快速收敛打下良好基础。下方的折线图形象地展示了学习率先上升后下降的变化趋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一个非常重要的工程规范问题。原始代码没有告诉模型何时该训练，何时该测试。对于包含BatchNorm和Dropout的模型来说，这两种模式下的行为完全不同。训练时，BatchNorm要更新统计量，Dropout要随机失活神经元；而测试时，这些都应该被固定下来，以获得稳定的评估结果。因此，在训练前调用net.train()，在测试前调用net.eval()，是保证实验结果准确的必要步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改进的代码中，我们还加入了对模型复杂度的量化分析。通过计算参数量和FLOPs，我们可以客观地了解模型的大小和计算量。这对于评估模型的部署可行性和计算效率非常重要。例如，我们的模型只有约0.28M的参数量和12.5M的FLOPs，这说明它非常轻量，训练和推理都很快，这也是我们选择它作为示例的原因之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和优化方案都准备好了，接下来就是实际的实验环节。在这个过程中，我们遇到了一些预期之外的问题，也就是我们常说的“踩坑”。这一部分，我将分享这些真实的实验经历、问题分析以及最终的解决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坑是关于Mixup的。我们发现，刚加上Mixup时，模型的精度不仅没涨，反而还下降了。这让我们一度怀疑是不是哪里弄错了。后来分析发现，这其实是正常的。因为Mixup创造了更复杂的样本，模型学习起来更困难，初期表现自然会差一些。但这正是它的价值所在，强迫模型学习更本质的特征。只要我们坚持训练下去，它的后劲会很足，最终的泛化能力会明显优于基线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坑是一个非常经典的GPU使用错误：张量设备不匹配。当我们把模型放到GPU上，却忘了把数据也放上去时，程序就会报错，说期望所有张量都在同一个设备上。这个错误虽然低级，但非常常见。解决方法也很简单，就是确保模型和数据都在同一个地方——要么都在CPU，要么都在GPU。在代码中养成一个好习惯，每次拿到数据就立刻执行.to(device)，就能避免这个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一下最终的实验结果对比。这张图展示了基线模型和我们加入了Warmup与Mixup的优化模型在测试集上的精度变化曲线。可以看到，优化后的模型虽然初期因为Mixup的原因精度稍低，但它收敛得更快，最终的测试精度稳定在85%以上，相比基线模型的75%有了显著的提升。这清晰地证明了我们所做的优化是卓有成效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在我们成功的优化案例之外，还有一些非常有价值的失败尝试。接下来，我们将分析一个经典的“坑”：很多人直觉上认为，使用更大的Batch Size可以让训练更稳定、更快，但事实真的如此吗？我们通过一个实验来验证，并看看它为什么会失败。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我们的实验设置非常简单：在已经优化好的模型上，我们只做一个改动，就是把Batch Size从128大幅增加到2048，其他所有条件都保持不变。结果令人意外：模型的最终测试精度从85%以上直接暴跌到了65%左右。这个巨大的反差告诉我们，大Batch Size并不总是好的，甚至可能带来严重的负面影响。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那么，为什么增大Batch Size会导致精度暴跌呢？主要有三个核心原因。首先，大Batch会过度平均梯度，让梯度变得过于平滑，失去了帮助模型探索更好解的“噪声”。其次，我们没有相应地调整学习率，导致相对于巨大的Batch，学习率太小，模型学不动。最后，大Batch还会影响BatchNorm层的统计特性，导致训练和测试时的数据分布不一致，进一步恶化了泛化能力。这三个因素共同作用，导致了实验的失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从这个失败的实验中，我们可以得出几个重要的结论和教训。首先，大Batch Size并不是万能的，它需要和其他超参数（尤其是学习率）协同调整才能发挥作用。其次，这提醒我们，在做优化时要有系统性思维，不能孤立地看待问题。最后，我们认识到，在深度学习中，适度的噪声和随机性反而是有益的，它们能帮助模型学习到更鲁棒的特征。这些经验对于我们未来的模型调优工作具有重要的指导意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到这里，我们的代码优化和实验复盘就接近尾声了。最后，让我们对整个过程进行一个总结，并对未来的工作进行简单的展望。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的工作分为四个层面：首先是修复了基础的代码错误；其次是进行了工程化的优化，让代码更规范、更好用；接着是引入了核心的算法优化策略，大幅提升了模型性能；最后，我们分享了实验中的踩坑经历，这对大家来说可能更有价值。未来，我们还可以尝试更复杂的模型和更多的优化技巧。我的分享到此结束，感谢大家的观看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9.jpeg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9.svg"/><Relationship Id="rId10" Type="http://schemas.openxmlformats.org/officeDocument/2006/relationships/image" Target="../media/image28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3.png"/><Relationship Id="rId7" Type="http://schemas.openxmlformats.org/officeDocument/2006/relationships/image" Target="../media/image35.svg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svg"/><Relationship Id="rId8" Type="http://schemas.openxmlformats.org/officeDocument/2006/relationships/image" Target="../media/image40.png"/><Relationship Id="rId7" Type="http://schemas.openxmlformats.org/officeDocument/2006/relationships/image" Target="../media/image39.svg"/><Relationship Id="rId6" Type="http://schemas.openxmlformats.org/officeDocument/2006/relationships/image" Target="../media/image38.png"/><Relationship Id="rId5" Type="http://schemas.openxmlformats.org/officeDocument/2006/relationships/image" Target="../media/image31.svg"/><Relationship Id="rId4" Type="http://schemas.openxmlformats.org/officeDocument/2006/relationships/image" Target="../media/image37.png"/><Relationship Id="rId3" Type="http://schemas.openxmlformats.org/officeDocument/2006/relationships/image" Target="../media/image4.svg"/><Relationship Id="rId2" Type="http://schemas.openxmlformats.org/officeDocument/2006/relationships/image" Target="../media/image36.png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48.svg"/><Relationship Id="rId16" Type="http://schemas.openxmlformats.org/officeDocument/2006/relationships/image" Target="../media/image47.png"/><Relationship Id="rId15" Type="http://schemas.openxmlformats.org/officeDocument/2006/relationships/image" Target="../media/image10.svg"/><Relationship Id="rId14" Type="http://schemas.openxmlformats.org/officeDocument/2006/relationships/image" Target="../media/image46.png"/><Relationship Id="rId13" Type="http://schemas.openxmlformats.org/officeDocument/2006/relationships/image" Target="../media/image45.svg"/><Relationship Id="rId12" Type="http://schemas.openxmlformats.org/officeDocument/2006/relationships/image" Target="../media/image44.png"/><Relationship Id="rId11" Type="http://schemas.openxmlformats.org/officeDocument/2006/relationships/image" Target="../media/image43.svg"/><Relationship Id="rId10" Type="http://schemas.openxmlformats.org/officeDocument/2006/relationships/image" Target="../media/image42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5.jpeg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Relationship Id="rId3" Type="http://schemas.openxmlformats.org/officeDocument/2006/relationships/image" Target="../media/image8.svg"/><Relationship Id="rId2" Type="http://schemas.openxmlformats.org/officeDocument/2006/relationships/image" Target="../media/image56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svg"/><Relationship Id="rId8" Type="http://schemas.openxmlformats.org/officeDocument/2006/relationships/image" Target="../media/image53.png"/><Relationship Id="rId7" Type="http://schemas.openxmlformats.org/officeDocument/2006/relationships/image" Target="../media/image65.svg"/><Relationship Id="rId6" Type="http://schemas.openxmlformats.org/officeDocument/2006/relationships/image" Target="../media/image64.png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33.svg"/><Relationship Id="rId4" Type="http://schemas.openxmlformats.org/officeDocument/2006/relationships/image" Target="../media/image66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notesSlide" Target="../notesSlides/notesSlide13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image" Target="../media/image31.svg"/><Relationship Id="rId12" Type="http://schemas.openxmlformats.org/officeDocument/2006/relationships/image" Target="../media/image37.png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2.svg"/><Relationship Id="rId6" Type="http://schemas.openxmlformats.org/officeDocument/2006/relationships/image" Target="../media/image71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image" Target="../media/image74.svg"/><Relationship Id="rId4" Type="http://schemas.openxmlformats.org/officeDocument/2006/relationships/image" Target="../media/image73.png"/><Relationship Id="rId3" Type="http://schemas.openxmlformats.org/officeDocument/2006/relationships/tags" Target="../tags/tag14.xml"/><Relationship Id="rId24" Type="http://schemas.openxmlformats.org/officeDocument/2006/relationships/notesSlide" Target="../notesSlides/notesSlide16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13.xml"/><Relationship Id="rId19" Type="http://schemas.openxmlformats.org/officeDocument/2006/relationships/image" Target="../media/image76.svg"/><Relationship Id="rId18" Type="http://schemas.openxmlformats.org/officeDocument/2006/relationships/image" Target="../media/image75.png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image" Target="../media/image70.svg"/><Relationship Id="rId11" Type="http://schemas.openxmlformats.org/officeDocument/2006/relationships/image" Target="../media/image69.png"/><Relationship Id="rId10" Type="http://schemas.openxmlformats.org/officeDocument/2006/relationships/tags" Target="../tags/tag19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1.png"/><Relationship Id="rId5" Type="http://schemas.openxmlformats.org/officeDocument/2006/relationships/image" Target="../media/image80.svg"/><Relationship Id="rId4" Type="http://schemas.openxmlformats.org/officeDocument/2006/relationships/image" Target="../media/image79.png"/><Relationship Id="rId3" Type="http://schemas.openxmlformats.org/officeDocument/2006/relationships/image" Target="../media/image78.svg"/><Relationship Id="rId2" Type="http://schemas.openxmlformats.org/officeDocument/2006/relationships/image" Target="../media/image77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3.svg"/><Relationship Id="rId2" Type="http://schemas.openxmlformats.org/officeDocument/2006/relationships/image" Target="../media/image82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svg"/><Relationship Id="rId8" Type="http://schemas.openxmlformats.org/officeDocument/2006/relationships/image" Target="../media/image86.png"/><Relationship Id="rId7" Type="http://schemas.openxmlformats.org/officeDocument/2006/relationships/image" Target="../media/image8.svg"/><Relationship Id="rId6" Type="http://schemas.openxmlformats.org/officeDocument/2006/relationships/image" Target="../media/image56.png"/><Relationship Id="rId5" Type="http://schemas.openxmlformats.org/officeDocument/2006/relationships/image" Target="../media/image85.svg"/><Relationship Id="rId4" Type="http://schemas.openxmlformats.org/officeDocument/2006/relationships/image" Target="../media/image84.png"/><Relationship Id="rId3" Type="http://schemas.openxmlformats.org/officeDocument/2006/relationships/image" Target="../media/image78.svg"/><Relationship Id="rId2" Type="http://schemas.openxmlformats.org/officeDocument/2006/relationships/image" Target="../media/image77.png"/><Relationship Id="rId17" Type="http://schemas.openxmlformats.org/officeDocument/2006/relationships/notesSlide" Target="../notesSlides/notesSlide19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91.svg"/><Relationship Id="rId14" Type="http://schemas.openxmlformats.org/officeDocument/2006/relationships/image" Target="../media/image90.png"/><Relationship Id="rId13" Type="http://schemas.openxmlformats.org/officeDocument/2006/relationships/image" Target="../media/image89.svg"/><Relationship Id="rId12" Type="http://schemas.openxmlformats.org/officeDocument/2006/relationships/image" Target="../media/image88.png"/><Relationship Id="rId11" Type="http://schemas.openxmlformats.org/officeDocument/2006/relationships/image" Target="../media/image76.svg"/><Relationship Id="rId10" Type="http://schemas.openxmlformats.org/officeDocument/2006/relationships/image" Target="../media/image75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5.svg"/><Relationship Id="rId6" Type="http://schemas.openxmlformats.org/officeDocument/2006/relationships/image" Target="../media/image94.png"/><Relationship Id="rId5" Type="http://schemas.openxmlformats.org/officeDocument/2006/relationships/image" Target="../media/image93.svg"/><Relationship Id="rId4" Type="http://schemas.openxmlformats.org/officeDocument/2006/relationships/image" Target="../media/image92.png"/><Relationship Id="rId3" Type="http://schemas.openxmlformats.org/officeDocument/2006/relationships/image" Target="../media/image87.svg"/><Relationship Id="rId2" Type="http://schemas.openxmlformats.org/officeDocument/2006/relationships/image" Target="../media/image86.pn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102.png"/><Relationship Id="rId7" Type="http://schemas.openxmlformats.org/officeDocument/2006/relationships/image" Target="../media/image101.svg"/><Relationship Id="rId6" Type="http://schemas.openxmlformats.org/officeDocument/2006/relationships/image" Target="../media/image100.png"/><Relationship Id="rId5" Type="http://schemas.openxmlformats.org/officeDocument/2006/relationships/image" Target="../media/image99.svg"/><Relationship Id="rId4" Type="http://schemas.openxmlformats.org/officeDocument/2006/relationships/image" Target="../media/image98.png"/><Relationship Id="rId3" Type="http://schemas.openxmlformats.org/officeDocument/2006/relationships/image" Target="../media/image97.svg"/><Relationship Id="rId2" Type="http://schemas.openxmlformats.org/officeDocument/2006/relationships/image" Target="../media/image96.png"/><Relationship Id="rId13" Type="http://schemas.openxmlformats.org/officeDocument/2006/relationships/notesSlide" Target="../notesSlides/notesSlide2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04.svg"/><Relationship Id="rId10" Type="http://schemas.openxmlformats.org/officeDocument/2006/relationships/image" Target="../media/image103.png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svg"/><Relationship Id="rId8" Type="http://schemas.openxmlformats.org/officeDocument/2006/relationships/image" Target="../media/image86.png"/><Relationship Id="rId7" Type="http://schemas.openxmlformats.org/officeDocument/2006/relationships/image" Target="../media/image8.svg"/><Relationship Id="rId6" Type="http://schemas.openxmlformats.org/officeDocument/2006/relationships/image" Target="../media/image56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107.svg"/><Relationship Id="rId21" Type="http://schemas.openxmlformats.org/officeDocument/2006/relationships/notesSlide" Target="../notesSlides/notesSlide23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106.png"/><Relationship Id="rId19" Type="http://schemas.openxmlformats.org/officeDocument/2006/relationships/image" Target="../media/image61.svg"/><Relationship Id="rId18" Type="http://schemas.openxmlformats.org/officeDocument/2006/relationships/image" Target="../media/image60.png"/><Relationship Id="rId17" Type="http://schemas.openxmlformats.org/officeDocument/2006/relationships/image" Target="../media/image115.svg"/><Relationship Id="rId16" Type="http://schemas.openxmlformats.org/officeDocument/2006/relationships/image" Target="../media/image114.png"/><Relationship Id="rId15" Type="http://schemas.openxmlformats.org/officeDocument/2006/relationships/image" Target="../media/image113.svg"/><Relationship Id="rId14" Type="http://schemas.openxmlformats.org/officeDocument/2006/relationships/image" Target="../media/image112.png"/><Relationship Id="rId13" Type="http://schemas.openxmlformats.org/officeDocument/2006/relationships/image" Target="../media/image111.svg"/><Relationship Id="rId12" Type="http://schemas.openxmlformats.org/officeDocument/2006/relationships/image" Target="../media/image110.png"/><Relationship Id="rId11" Type="http://schemas.openxmlformats.org/officeDocument/2006/relationships/image" Target="../media/image109.svg"/><Relationship Id="rId10" Type="http://schemas.openxmlformats.org/officeDocument/2006/relationships/image" Target="../media/image108.png"/><Relationship Id="rId1" Type="http://schemas.openxmlformats.org/officeDocument/2006/relationships/image" Target="../media/image10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41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代码优化全解析：从问题修复到性能提升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359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基于CIFAR-10分类任务的实验报告与复盘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CONTENTS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57290">
            <a:off x="762053" y="1390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5334000" y="1651000"/>
            <a:ext cx="6096000" cy="812800"/>
          </a:xfrm>
          <a:prstGeom prst="roundRect">
            <a:avLst>
              <a:gd name="adj" fmla="val 15625"/>
            </a:avLst>
          </a:prstGeom>
          <a:solidFill>
            <a:srgbClr val="142846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8000" y="1879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045200" y="18669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18669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项目背景与原代码回顾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334000" y="2590800"/>
            <a:ext cx="6096000" cy="812800"/>
          </a:xfrm>
          <a:prstGeom prst="roundRect">
            <a:avLst>
              <a:gd name="adj" fmla="val 15625"/>
            </a:avLst>
          </a:prstGeom>
          <a:solidFill>
            <a:srgbClr val="142846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0" y="28194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045200" y="28067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28067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核心问题诊断与修复方案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334000" y="3530600"/>
            <a:ext cx="6096000" cy="812800"/>
          </a:xfrm>
          <a:prstGeom prst="roundRect">
            <a:avLst>
              <a:gd name="adj" fmla="val 15625"/>
            </a:avLst>
          </a:prstGeom>
          <a:solidFill>
            <a:srgbClr val="142846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8000" y="37592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045200" y="37465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3746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关键优化策略与技术原理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334000" y="4470400"/>
            <a:ext cx="6096000" cy="812800"/>
          </a:xfrm>
          <a:prstGeom prst="roundRect">
            <a:avLst>
              <a:gd name="adj" fmla="val 15625"/>
            </a:avLst>
          </a:prstGeom>
          <a:solidFill>
            <a:srgbClr val="142846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88000" y="46990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045200" y="46863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0" y="46863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实验过程与踩坑复盘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334000" y="5410200"/>
            <a:ext cx="6096000" cy="812800"/>
          </a:xfrm>
          <a:prstGeom prst="roundRect">
            <a:avLst>
              <a:gd name="adj" fmla="val 15625"/>
            </a:avLst>
          </a:prstGeom>
          <a:solidFill>
            <a:srgbClr val="142846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88000" y="56388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045200" y="56261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0" y="56261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1905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17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项目背景与原代码回顾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69">
            <a:off x="5588040" y="4121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0" y="431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CIFAR-10 图像分类任务简介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实验基础：CIFAR-10数据集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112240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80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数据集简介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包含60,000张32x32像素的彩色图片，是计算机视觉领域广泛使用的图像分类基准数据集。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2385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112240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29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390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十大物体类别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810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均匀分为10类：飞机、汽车、鸟、猫、鹿、狗、青蛙、马、船和卡车。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826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112240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016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4978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标准数据划分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397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训练集包含50,000张图片，测试集包含10,000张图片，用于验证算法的泛化性能。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2777"/>
            </a:avLst>
          </a:prstGeom>
          <a:solidFill>
            <a:srgbClr val="112240">
              <a:alpha val="40000"/>
            </a:srgbClr>
          </a:solidFill>
          <a:ln w="12700" cap="flat" cmpd="sng">
            <a:solidFill>
              <a:srgbClr val="64FFD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rcRect l="16062" r="16062"/>
          <a:stretch>
            <a:fillRect/>
          </a:stretch>
        </p:blipFill>
        <p:spPr>
          <a:xfrm>
            <a:off x="6413500" y="1841500"/>
            <a:ext cx="4826000" cy="419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SimpleCNN 网络结构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112240">
              <a:alpha val="80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9700" y="2286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984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输入层 (Input)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3429000"/>
            <a:ext cx="165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32x32 像素</a:t>
            </a:r>
            <a:b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RGB 3通道</a:t>
            </a:r>
            <a:b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Input Shape: (3, 32, 32)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0500" y="3429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0988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112240">
              <a:alpha val="80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6500" y="2286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225800" y="2984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卷积层 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225800" y="3429000"/>
            <a:ext cx="165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Conv2d(3→16)</a:t>
            </a:r>
            <a:b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ReLU + MaxPool</a:t>
            </a:r>
            <a:b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Output: (16, 16, 16)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7300" y="3429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4356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112240">
              <a:alpha val="80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83300" y="2286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62600" y="2984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卷积层 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562600" y="3429000"/>
            <a:ext cx="165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Conv2d(16→32)</a:t>
            </a:r>
            <a:b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ReLU + MaxPool</a:t>
            </a:r>
            <a:b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Output: (32, 8, 8)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04100" y="3429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7724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112240">
              <a:alpha val="80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20100" y="22860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899400" y="2984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全连接层 1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899400" y="3429000"/>
            <a:ext cx="165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Linear(2048→128)</a:t>
            </a:r>
            <a:b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ReLU激活函数</a:t>
            </a:r>
            <a:b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Feature: 128维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0900" y="3429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0109200" y="2032000"/>
            <a:ext cx="1905000" cy="3302000"/>
          </a:xfrm>
          <a:prstGeom prst="roundRect">
            <a:avLst>
              <a:gd name="adj" fmla="val 6666"/>
            </a:avLst>
          </a:prstGeom>
          <a:solidFill>
            <a:srgbClr val="112240">
              <a:alpha val="80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56900" y="2286000"/>
            <a:ext cx="609600" cy="609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0236200" y="2984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全连接层 2 (输出)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236200" y="3429000"/>
            <a:ext cx="165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Linear(128→10)</a:t>
            </a:r>
            <a:b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10分类预测</a:t>
            </a:r>
            <a:b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Output: 10维概率分布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04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核心问题诊断与修复方案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5461032" y="3867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CCD6F6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从语法错误到工程化缺陷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问题诊断：未启用GPU加速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112240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841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性能瓶颈：CPU算力不足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CNN涉及大规模矩阵运算，CPU串行处理效率极低，导致训练耗时过长，无法满足深度学习需求。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2385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112240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429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核心原理：GPU并行计算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810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GPU拥有数千个CUDA核心，专为并行计算设计，在处理卷积等并行任务时，性能远超CPU数十倍。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826000"/>
            <a:ext cx="5334000" cy="1524000"/>
          </a:xfrm>
          <a:prstGeom prst="roundRect">
            <a:avLst>
              <a:gd name="adj" fmla="val 8333"/>
            </a:avLst>
          </a:prstGeom>
          <a:solidFill>
            <a:srgbClr val="112240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016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5016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修复方案：设备迁移策略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3975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CCD6F6"/>
              </a:buClr>
              <a:buChar char="•"/>
              <a:defRPr/>
            </a:pPr>
            <a:r>
              <a:rPr lang="en-US" sz="14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显式定义计算设备 (cuda/cpu)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CCD6F6"/>
              </a:buClr>
              <a:buChar char="•"/>
            </a:pPr>
            <a:r>
              <a:rPr lang="en-US" sz="14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将模型结构与输入数据同步迁移至GPU</a:t>
            </a:r>
            <a:endParaRPr lang="en-US" sz="1400" b="0" i="0" u="none" strike="noStrike">
              <a:solidFill>
                <a:srgbClr val="CCD6F6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0" y="1651000"/>
            <a:ext cx="5080000" cy="4699000"/>
          </a:xfrm>
          <a:prstGeom prst="roundRect">
            <a:avLst>
              <a:gd name="adj" fmla="val 2702"/>
            </a:avLst>
          </a:prstGeom>
          <a:solidFill>
            <a:srgbClr val="0A192F">
              <a:alpha val="85000"/>
            </a:srgbClr>
          </a:solidFill>
          <a:ln w="12700" cap="flat" cmpd="sng">
            <a:solidFill>
              <a:srgbClr val="64FFD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1651000"/>
            <a:ext cx="5080000" cy="508000"/>
          </a:xfrm>
          <a:prstGeom prst="roundRect">
            <a:avLst>
              <a:gd name="adj" fmla="val 0"/>
            </a:avLst>
          </a:prstGeom>
          <a:solidFill>
            <a:srgbClr val="64FFDA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1752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1752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关键代码实现 (PyTorch)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2286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定义计算设备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2603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CD6F6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device = torch.device(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CD6F6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'cuda' if torch.cuda.is_available() else 'cpu'</a:t>
            </a:r>
            <a:endParaRPr lang="en-US" sz="1300" b="0" i="0" u="none" strike="noStrike">
              <a:solidFill>
                <a:srgbClr val="CCD6F6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CD6F6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endParaRPr lang="en-US" sz="1300" b="0" i="0" u="none" strike="noStrike">
              <a:solidFill>
                <a:srgbClr val="CCD6F6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9549">
            <a:off x="6604009" y="3359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D6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604000" y="3492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模型迁移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3810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CD6F6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实例化并移动模型到设备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CD6F6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net = SimpleCNN().to(device)</a:t>
            </a:r>
            <a:endParaRPr lang="en-US" sz="1300" b="0" i="0" u="none" strike="noStrike">
              <a:solidFill>
                <a:srgbClr val="CCD6F6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4" name="Connector 24"/>
          <p:cNvCxnSpPr/>
          <p:nvPr/>
        </p:nvCxnSpPr>
        <p:spPr>
          <a:xfrm rot="-9549">
            <a:off x="6604009" y="4438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D6F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604000" y="4572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数据迁移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604000" y="4889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CD6F6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输入数据必须与模型在同一设备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CD6F6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inputs, labels = inputs.to(device), labels.to(device)</a:t>
            </a:r>
            <a:endParaRPr lang="en-US" sz="1300" b="0" i="0" u="none" strike="noStrike">
              <a:solidFill>
                <a:srgbClr val="CCD6F6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关键优化策略与技术原理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588040" y="393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0" y="419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从模型结构到训练策略的全面升级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代码优化：模块化设计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112240">
              <a:alpha val="7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879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CD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核心封装逻辑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549">
            <a:off x="1016009" y="2279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540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5146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CD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独立函数封装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CD6F6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将冗长的训练和测试逻辑分离为独立的</a:t>
            </a:r>
            <a:r>
              <a:rPr lang="en-US" sz="1300" b="0" i="0" u="none" strike="noStrike">
                <a:solidFill>
                  <a:srgbClr val="CCD6F6">
                    <a:alpha val="70196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train()</a:t>
            </a:r>
            <a:r>
              <a:rPr lang="en-US" sz="1300" b="0" i="0" u="none" strike="noStrike">
                <a:solidFill>
                  <a:srgbClr val="CCD6F6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300" b="0" i="0" u="none" strike="noStrike">
                <a:solidFill>
                  <a:srgbClr val="CCD6F6">
                    <a:alpha val="70196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test()</a:t>
            </a:r>
            <a:r>
              <a:rPr lang="en-US" sz="1300" b="0" i="0" u="none" strike="noStrike">
                <a:solidFill>
                  <a:srgbClr val="CCD6F6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函数，降低逻辑复杂度。</a:t>
            </a:r>
            <a:endParaRPr lang="en-US" sz="1300" b="0" i="0" u="none" strike="noStrike">
              <a:solidFill>
                <a:srgbClr val="CCD6F6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29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4036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CD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标准化参数与返回值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CD6F6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统一接收模型、数据加载器等参数，规范返回平均损失、准确率等关键指标。</a:t>
            </a:r>
            <a:endParaRPr lang="en-US" sz="1300" b="0" i="0" u="none" strike="noStrike">
              <a:solidFill>
                <a:srgbClr val="CCD6F6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096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112240">
              <a:alpha val="7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000" y="1905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731000" y="1879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CD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工程化核心优势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549">
            <a:off x="6350009" y="2279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2540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31000" y="25146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CD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降低耦合度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CD6F6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功能分离，代码结构清晰，逻辑互不干扰。</a:t>
            </a:r>
            <a:endParaRPr lang="en-US" sz="1300" b="0" i="0" u="none" strike="noStrike">
              <a:solidFill>
                <a:srgbClr val="CCD6F6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0000" y="3175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731000" y="31496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CD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提升复用性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CD6F6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支持多组对比实验，避免重复编写相同代码。</a:t>
            </a:r>
            <a:endParaRPr lang="en-US" sz="1300" b="0" i="0" u="none" strike="noStrike">
              <a:solidFill>
                <a:srgbClr val="CCD6F6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0000" y="3810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31000" y="37846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CD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支持批量实验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CD6F6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为后续进行Trick对比等大规模实验奠定基础。</a:t>
            </a:r>
            <a:endParaRPr lang="en-US" sz="1300" b="0" i="0" u="none" strike="noStrike">
              <a:solidFill>
                <a:srgbClr val="CCD6F6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50000" y="44450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31000" y="44196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CD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易于维护扩展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CD6F6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单点修改，全局生效，降低维护成本。</a:t>
            </a:r>
            <a:endParaRPr lang="en-US" sz="1300" b="0" i="0" u="none" strike="noStrike">
              <a:solidFill>
                <a:srgbClr val="CCD6F6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核心优化：Mixup数据增强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112240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14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33500" y="1676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技术原理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032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通过对随机样本的图像和标签进行线性插值，生成虚拟训练样本，而非简单的裁剪或翻转。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845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112240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175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31369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数学模型 (Beta分布采样 λ)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492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图像混合：x = λ·x₁ + (1-λ)·x₂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37973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标签混合：y = λ·y₁ + (1-λ)·y₂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1021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损失计算：L = λ·L(y₁) + (1-λ)·L(y₂)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953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112240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14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33500" y="5105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5461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平滑决策边界，增强模型泛化能力，有效抑制过拟合，使模型在未知数据上表现更稳定。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 l="13063" r="13063"/>
          <a:stretch>
            <a:fillRect/>
          </a:stretch>
        </p:blipFill>
        <p:spPr>
          <a:xfrm>
            <a:off x="6223000" y="1524000"/>
            <a:ext cx="5207000" cy="4699000"/>
          </a:xfrm>
          <a:prstGeom prst="roundRect">
            <a:avLst>
              <a:gd name="adj" fmla="val 2702"/>
            </a:avLst>
          </a:prstGeom>
          <a:noFill/>
          <a:ln w="12700" cap="flat" cmpd="sng">
            <a:solidFill>
              <a:srgbClr val="64FFDA">
                <a:alpha val="5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核心优化：Warmup学习率调度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112240">
              <a:alpha val="7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7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技术原理：动态调整策略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089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222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初始阶段：学习率从极小值线性/非线性增加至预设值。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后续阶段：按照衰减策略（如CosineAnnealing）进行调整。</a:t>
            </a:r>
            <a:endParaRPr lang="en-US" sz="14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112240">
              <a:alpha val="7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714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167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优化原理：模型“热身”机制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291">
            <a:off x="6477009" y="2089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77000" y="2222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防止震荡：避免随机初始化阶段大学习率导致的梯度爆炸。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平稳收敛：让参数逐步适应数据分布，提升训练稳定性与效率。</a:t>
            </a:r>
            <a:endParaRPr lang="en-US" sz="14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10668000" cy="2286000"/>
          </a:xfrm>
          <a:prstGeom prst="roundRect">
            <a:avLst>
              <a:gd name="adj" fmla="val 5555"/>
            </a:avLst>
          </a:prstGeom>
          <a:solidFill>
            <a:srgbClr val="112240">
              <a:alpha val="7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" y="4191000"/>
            <a:ext cx="101600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工程规范：训练与测试模式切换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3302000"/>
          </a:xfrm>
          <a:prstGeom prst="roundRect">
            <a:avLst>
              <a:gd name="adj" fmla="val 3846"/>
            </a:avLst>
          </a:prstGeom>
          <a:solidFill>
            <a:srgbClr val="172A45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9050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训练模式 (net.train())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D6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67000"/>
            <a:ext cx="203200" cy="203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33500" y="2641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BatchNorm 行为：</a:t>
            </a:r>
            <a:r>
              <a:rPr lang="en-US" sz="14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持续更新移动平均的均值和方差，适应数据分布。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02000"/>
            <a:ext cx="203200" cy="203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3276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Dropout 行为：</a:t>
            </a:r>
            <a:r>
              <a:rPr lang="en-US" sz="14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按照设定概率随机失活部分神经元，防止过拟合。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3302000"/>
          </a:xfrm>
          <a:prstGeom prst="roundRect">
            <a:avLst>
              <a:gd name="adj" fmla="val 3846"/>
            </a:avLst>
          </a:prstGeom>
          <a:solidFill>
            <a:srgbClr val="172A45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90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85000" y="19050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测试模式 (net.eval())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6477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D6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667000"/>
            <a:ext cx="203200" cy="203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794500" y="2641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BatchNorm 行为：</a:t>
            </a:r>
            <a:r>
              <a:rPr lang="en-US" sz="14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固定使用训练阶段学到的统计量，确保结果稳定。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302000"/>
            <a:ext cx="203200" cy="203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94500" y="3276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Dropout 行为：</a:t>
            </a:r>
            <a:r>
              <a:rPr lang="en-US" sz="14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关闭随机失活，所有神经元参与计算，还原完整模型。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207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64FFDA">
              <a:alpha val="10000"/>
            </a:srgbClr>
          </a:solidFill>
          <a:ln w="12700" cap="flat" cmpd="sng">
            <a:solidFill>
              <a:srgbClr val="64FFD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397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460500" y="5397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工程原理总结：</a:t>
            </a: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严格区分训练和评估阶段的模型行为，是保证实验结果真实、可靠的基本工程规范。这确保了我们在测试时评估的是一个“稳定”的模型状态，而非随机波动的中间过程。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量化分析：模型参数量与FLOPs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5143500" cy="3556000"/>
          </a:xfrm>
          <a:prstGeom prst="roundRect">
            <a:avLst>
              <a:gd name="adj" fmla="val 3571"/>
            </a:avLst>
          </a:prstGeom>
          <a:solidFill>
            <a:srgbClr val="141E30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2159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6"/>
            </p:custDataLst>
          </p:nvPr>
        </p:nvSpPr>
        <p:spPr>
          <a:xfrm>
            <a:off x="1905000" y="2209800"/>
            <a:ext cx="355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参数量 (Parameters)</a:t>
            </a:r>
            <a:endParaRPr lang="en-US" sz="1100"/>
          </a:p>
        </p:txBody>
      </p:sp>
      <p:cxnSp>
        <p:nvCxnSpPr>
          <p:cNvPr id="6" name="Connector 6"/>
          <p:cNvCxnSpPr/>
          <p:nvPr>
            <p:custDataLst>
              <p:tags r:id="rId7"/>
            </p:custDataLst>
          </p:nvPr>
        </p:nvCxnSpPr>
        <p:spPr>
          <a:xfrm rot="-9964">
            <a:off x="1143009" y="28511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8"/>
            </p:custDataLst>
          </p:nvPr>
        </p:nvSpPr>
        <p:spPr>
          <a:xfrm>
            <a:off x="1143000" y="30480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0.28 M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9"/>
            </p:custDataLst>
          </p:nvPr>
        </p:nvSpPr>
        <p:spPr>
          <a:xfrm>
            <a:off x="1143000" y="3873500"/>
            <a:ext cx="438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衡量模型大小的指标，决定内存占用。数值极小表明模型非常轻量，适合边缘设备部署。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10"/>
            </p:custDataLst>
          </p:nvPr>
        </p:nvSpPr>
        <p:spPr>
          <a:xfrm>
            <a:off x="6286500" y="1778000"/>
            <a:ext cx="5143500" cy="3556000"/>
          </a:xfrm>
          <a:prstGeom prst="roundRect">
            <a:avLst>
              <a:gd name="adj" fmla="val 3571"/>
            </a:avLst>
          </a:prstGeom>
          <a:solidFill>
            <a:srgbClr val="141E30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2159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4"/>
            </p:custDataLst>
          </p:nvPr>
        </p:nvSpPr>
        <p:spPr>
          <a:xfrm>
            <a:off x="7429500" y="2209800"/>
            <a:ext cx="355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浮点运算数 (FLOPs)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15"/>
            </p:custDataLst>
          </p:nvPr>
        </p:nvCxnSpPr>
        <p:spPr>
          <a:xfrm rot="-9964">
            <a:off x="6667509" y="28511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6"/>
            </p:custDataLst>
          </p:nvPr>
        </p:nvSpPr>
        <p:spPr>
          <a:xfrm>
            <a:off x="6667500" y="30480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12.54 M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6667500" y="3873500"/>
            <a:ext cx="438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衡量计算复杂度的指标，直接反映推理速度。低FLOPs意味着训练和推理效率极高，适合快速迭代。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778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04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实验过程与踩坑复盘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588040" y="3867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记录实验中的问题、分析与解决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踩坑记录一：Mixup导致初期精度下降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72A45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32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现象：初期精度跳水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626">
            <a:off x="1016014" y="2533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D6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667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加入Mixup后，前5-10个epoch的训练精度和测试精度均明显低于基线模型，出现不升反降的情况。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72A45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32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2032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原因：样本难度增加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5626">
            <a:off x="4699014" y="2533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D6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99000" y="2667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Mixup生成了更“难”的混合样本，标签信息变得模糊。这增加了模型的学习难度，使其在初期难以快速拟合数据。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72A45">
              <a:alpha val="6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032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2032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方案：坚持训练，静待反超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5626">
            <a:off x="8382014" y="2533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D6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382000" y="2667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这是正则化生效的正常现象。随着训练轮次增加，模型将学会提取本质特征，泛化能力显著提升，最终表现将反超基线模型。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踩坑记录</a:t>
            </a:r>
            <a:r>
              <a:rPr lang="zh-CN" alt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</a:t>
            </a: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：CPU/GPU设备不匹配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12240">
              <a:alpha val="7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6"/>
            </p:custDataLst>
          </p:nvPr>
        </p:nvSpPr>
        <p:spPr>
          <a:xfrm>
            <a:off x="1524000" y="1905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问题现象</a:t>
            </a:r>
            <a:endParaRPr lang="en-US" sz="1100"/>
          </a:p>
        </p:txBody>
      </p:sp>
      <p:cxnSp>
        <p:nvCxnSpPr>
          <p:cNvPr id="6" name="Connector 6"/>
          <p:cNvCxnSpPr/>
          <p:nvPr>
            <p:custDataLst>
              <p:tags r:id="rId7"/>
            </p:custDataLst>
          </p:nvPr>
        </p:nvCxnSpPr>
        <p:spPr>
          <a:xfrm rot="-15626">
            <a:off x="1016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D6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8"/>
            </p:custDataLst>
          </p:nvPr>
        </p:nvSpPr>
        <p:spPr>
          <a:xfrm>
            <a:off x="1016000" y="2540000"/>
            <a:ext cx="2794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程序在执行前向传播时崩溃，抛出经典错误：</a:t>
            </a:r>
            <a:endParaRPr lang="en-US" sz="1100"/>
          </a:p>
          <a:p>
            <a:pPr indent="0" algn="l">
              <a:lnSpc>
                <a:spcPct val="125000"/>
              </a:lnSpc>
            </a:pP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RuntimeError: Expected all tensors to be on the same device</a:t>
            </a:r>
            <a:endParaRPr lang="en-US" sz="1300" b="1" i="0" u="none" strike="noStrike">
              <a:solidFill>
                <a:srgbClr val="64FFD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6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 GPU 开发中最常见的入门级错误之一</a:t>
            </a:r>
            <a:endParaRPr lang="en-US" sz="1400" b="0" i="0" u="none" strike="noStrike">
              <a:solidFill>
                <a:srgbClr val="CCD6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9"/>
            </p:custDataLst>
          </p:nvPr>
        </p:nvSpPr>
        <p:spPr>
          <a:xfrm>
            <a:off x="4445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12240">
              <a:alpha val="7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90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3"/>
            </p:custDataLst>
          </p:nvPr>
        </p:nvSpPr>
        <p:spPr>
          <a:xfrm>
            <a:off x="5207000" y="1905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原因分析</a:t>
            </a:r>
            <a:endParaRPr lang="en-US" sz="1100"/>
          </a:p>
        </p:txBody>
      </p:sp>
      <p:cxnSp>
        <p:nvCxnSpPr>
          <p:cNvPr id="11" name="Connector 11"/>
          <p:cNvCxnSpPr/>
          <p:nvPr>
            <p:custDataLst>
              <p:tags r:id="rId14"/>
            </p:custDataLst>
          </p:nvPr>
        </p:nvCxnSpPr>
        <p:spPr>
          <a:xfrm rot="-15626">
            <a:off x="4699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D6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15"/>
            </p:custDataLst>
          </p:nvPr>
        </p:nvSpPr>
        <p:spPr>
          <a:xfrm>
            <a:off x="4699000" y="2540000"/>
            <a:ext cx="2794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核心矛盾在于计算设备不一致：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CCD6F6"/>
              </a:buClr>
              <a:buChar char="•"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模型参数 (net) 已移至 GPU，但输入数据 (inputs/labels) 仍留在 CPU。</a:t>
            </a:r>
            <a:endParaRPr lang="en-US" sz="1400" b="0" i="0" u="none" strike="noStrike">
              <a:solidFill>
                <a:srgbClr val="CCD6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CCD6F6"/>
              </a:buClr>
              <a:buChar char="•"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CPU 张量与 GPU 张量无法直接进行数学运算。</a:t>
            </a:r>
            <a:endParaRPr lang="en-US" sz="1400" b="0" i="0" u="none" strike="noStrike">
              <a:solidFill>
                <a:srgbClr val="CCD6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6"/>
            </p:custDataLst>
          </p:nvPr>
        </p:nvSpPr>
        <p:spPr>
          <a:xfrm>
            <a:off x="8128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12240">
              <a:alpha val="7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82000" y="190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20"/>
            </p:custDataLst>
          </p:nvPr>
        </p:nvSpPr>
        <p:spPr>
          <a:xfrm>
            <a:off x="8890000" y="1905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解决方案与启示</a:t>
            </a:r>
            <a:endParaRPr lang="en-US" sz="1100"/>
          </a:p>
        </p:txBody>
      </p:sp>
      <p:cxnSp>
        <p:nvCxnSpPr>
          <p:cNvPr id="16" name="Connector 16"/>
          <p:cNvCxnSpPr/>
          <p:nvPr>
            <p:custDataLst>
              <p:tags r:id="rId21"/>
            </p:custDataLst>
          </p:nvPr>
        </p:nvCxnSpPr>
        <p:spPr>
          <a:xfrm rot="-15626">
            <a:off x="8382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D6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22"/>
            </p:custDataLst>
          </p:nvPr>
        </p:nvSpPr>
        <p:spPr>
          <a:xfrm>
            <a:off x="8382000" y="2540000"/>
            <a:ext cx="2794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确保所有参与计算的张量显式同步：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CCD6F6"/>
              </a:buClr>
              <a:buChar char="•"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显式调用</a:t>
            </a:r>
            <a:r>
              <a:rPr lang="en-US" sz="1400" b="0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.to(device)</a:t>
            </a: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将模型和数据移动到同一设备。</a:t>
            </a:r>
            <a:endParaRPr lang="en-US" sz="1400" b="0" i="0" u="none" strike="noStrike">
              <a:solidFill>
                <a:srgbClr val="CCD6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CCD6F6"/>
              </a:buClr>
              <a:buChar char="•"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养成习惯：在数据加载后立即执行设备迁移操作。</a:t>
            </a:r>
            <a:endParaRPr lang="en-US" sz="1400" b="0" i="0" u="none" strike="noStrike">
              <a:solidFill>
                <a:srgbClr val="CCD6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实验结果对比：基线模型 vs 优化模型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4318000" cy="4318000"/>
          </a:xfrm>
          <a:prstGeom prst="roundRect">
            <a:avLst>
              <a:gd name="adj" fmla="val 2941"/>
            </a:avLst>
          </a:prstGeom>
          <a:solidFill>
            <a:srgbClr val="112240">
              <a:alpha val="7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  <a:p>
            <a:pPr algn="ctr">
              <a:defRPr/>
            </a:pPr>
          </a:p>
          <a:p>
            <a:pPr algn="ctr">
              <a:defRPr/>
            </a:pPr>
          </a:p>
          <a:p>
            <a:pPr algn="ctr">
              <a:defRPr/>
            </a:pPr>
          </a:p>
          <a:p>
            <a:pPr algn="ctr">
              <a:defRPr/>
            </a:pPr>
          </a:p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8796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实验设置与策略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CCD6F6"/>
              </a:buClr>
              <a:buChar char="•"/>
              <a:defRPr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基线模型 (Baseline)：</a:t>
            </a:r>
            <a:r>
              <a:rPr lang="en-US" sz="13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修复基础错误，无Warmup/Mixup。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CCD6F6"/>
              </a:buClr>
              <a:buChar char="•"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优化模型 (Optimized)：</a:t>
            </a:r>
            <a:r>
              <a:rPr lang="en-US" sz="13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引入Warmup学习率调度与Mixup数据增强。</a:t>
            </a:r>
            <a:endParaRPr lang="en-US" sz="1300" b="0" i="0" u="none" strike="noStrike">
              <a:solidFill>
                <a:srgbClr val="CCD6F6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11459">
            <a:off x="1016011" y="3422650"/>
            <a:ext cx="381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83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6576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性能提升结论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656965"/>
            <a:ext cx="3810000" cy="22263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1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宋体" panose="02010600030101010101" pitchFamily="2" charset="-122"/>
              </a:rPr>
              <a:t>     </a:t>
            </a:r>
            <a:r>
              <a:rPr lang="en-US" altLang="zh-CN" sz="11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根据右图可知，优化前的模型泛化能力较低，出现了过拟合现象，甚至存在梯度爆炸的风险，但是优化后，我们发现，准确率总体呈逐步上升的趋势，并且后期准确率稳定收敛。</a:t>
            </a:r>
            <a:endParaRPr lang="zh-CN" altLang="en-US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334000" y="1651000"/>
            <a:ext cx="6096000" cy="4318000"/>
          </a:xfrm>
          <a:prstGeom prst="roundRect">
            <a:avLst>
              <a:gd name="adj" fmla="val 2941"/>
            </a:avLst>
          </a:prstGeom>
          <a:solidFill>
            <a:srgbClr val="112240">
              <a:alpha val="7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图片 12" descr="IMG_877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1651000"/>
            <a:ext cx="6095365" cy="431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9600" y="1778000"/>
            <a:ext cx="812800" cy="8128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016000" y="279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失败案例分析：更大的 Batch Size？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3740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CD6F6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651000" y="4000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一个看似合理却导致精度暴跌的优化尝试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实验设置与现象：精度意外暴跌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112240">
              <a:alpha val="7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87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实验变量控制 (Setup)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549">
            <a:off x="1016009" y="2279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540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5146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Batch Size (核心变量):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128 → 2048 (增大16倍)</a:t>
            </a:r>
            <a:endParaRPr lang="en-US" sz="1600" b="0" i="0" u="none" strike="noStrike">
              <a:solidFill>
                <a:srgbClr val="CCD6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365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3401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控制变量 (保持不变):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CCD6F6"/>
              </a:buClr>
              <a:buChar char="•"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学习率 (Learning Rate) 与 优化器</a:t>
            </a:r>
            <a:endParaRPr lang="en-US" sz="1400" b="0" i="0" u="none" strike="noStrike">
              <a:solidFill>
                <a:srgbClr val="CCD6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CCD6F6"/>
              </a:buClr>
              <a:buChar char="•"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网络结构、Warmup策略、Mixup增强</a:t>
            </a:r>
            <a:endParaRPr lang="en-US" sz="1400" b="0" i="0" u="none" strike="noStrike">
              <a:solidFill>
                <a:srgbClr val="CCD6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096000" y="1651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112240">
              <a:alpha val="7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000" y="1905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731000" y="187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精度对比 (Results)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549">
            <a:off x="6350009" y="2279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2540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31000" y="25146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Batch Size = 128 (基准)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测试精度稳定在</a:t>
            </a: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85% 以上</a:t>
            </a:r>
            <a:endParaRPr lang="en-US" sz="1800" b="1" i="0" u="none" strike="noStrike">
              <a:solidFill>
                <a:srgbClr val="64FFD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0000" y="32385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731000" y="32131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Batch Size = 2048 (大批次)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测试精度暴跌至</a:t>
            </a:r>
            <a:r>
              <a:rPr lang="en-US" sz="18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65% 左右</a:t>
            </a:r>
            <a:endParaRPr lang="en-US" sz="1800" b="1" i="0" u="none" strike="noStrike">
              <a:solidFill>
                <a:srgbClr val="FFA5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4064000"/>
            <a:ext cx="4572000" cy="1651000"/>
          </a:xfrm>
          <a:prstGeom prst="roundRect">
            <a:avLst>
              <a:gd name="adj" fmla="val 7692"/>
            </a:avLst>
          </a:prstGeom>
          <a:solidFill>
            <a:srgbClr val="FFA500">
              <a:alpha val="10000"/>
            </a:srgbClr>
          </a:solidFill>
          <a:ln w="12700" cap="flat" cmpd="sng">
            <a:solidFill>
              <a:srgbClr val="FFA5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40500" y="42545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4216400"/>
            <a:ext cx="393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A5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关键发现 (Key Finding):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增大Batch Size并未带来性能提升，反而导致了灾难性的精度下降，表明大Batch训练存在潜在的优化陷阱。</a:t>
            </a:r>
            <a:endParaRPr lang="en-US" sz="1400" b="0" i="0" u="none" strike="noStrike">
              <a:solidFill>
                <a:srgbClr val="CCD6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核心原因分析：为什么大Batch会失效？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12240">
              <a:alpha val="8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905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梯度过度平均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5626">
            <a:off x="1016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D6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540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原理：</a:t>
            </a:r>
            <a:r>
              <a:rPr lang="en-US" sz="13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大Batch计算平均梯度，导致方向过于“平滑”，噪声极小。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55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</a:t>
            </a:r>
            <a:r>
              <a:rPr lang="en-US" sz="13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缺乏适度噪声帮助跳出局部最优，模型过早收敛到质量较差的解。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12240">
              <a:alpha val="8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0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1905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学习率不匹配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626">
            <a:off x="4699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D6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99000" y="2540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原理：</a:t>
            </a:r>
            <a:r>
              <a:rPr lang="en-US" sz="13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大Batch梯度估计更准，理论上需放大学习率以加速收敛。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55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</a:t>
            </a:r>
            <a:r>
              <a:rPr lang="en-US" sz="13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实验中学习率未随Batch增大而调整，导致步长过小，训练低效。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112240">
              <a:alpha val="8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1905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1905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BatchNorm 统计偏移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5626">
            <a:off x="8382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D6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382000" y="2540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原理：</a:t>
            </a:r>
            <a:r>
              <a:rPr lang="en-US" sz="13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BatchNorm依赖批次统计量归一化，大Batch可能偏离真实分布。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355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</a:t>
            </a:r>
            <a:r>
              <a:rPr lang="en-US" sz="13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导致训练与测试数据分布不一致，引发严重的过拟合与精度下降。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实验结论与深刻教训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143500" cy="4572000"/>
          </a:xfrm>
          <a:prstGeom prst="roundRect">
            <a:avLst>
              <a:gd name="adj" fmla="val 2777"/>
            </a:avLst>
          </a:prstGeom>
          <a:solidFill>
            <a:srgbClr val="112240">
              <a:alpha val="8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实验核心结论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418">
            <a:off x="1016009" y="2406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D6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03500"/>
            <a:ext cx="46355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简单地增大 Batch Size 并不能保证模型性能提升，反而可能引发以下问题：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CCD6F6"/>
              </a:buClr>
              <a:buChar char="•"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梯度特性改变导致优化困难</a:t>
            </a:r>
            <a:endParaRPr lang="en-US" sz="1400" b="0" i="0" u="none" strike="noStrike">
              <a:solidFill>
                <a:srgbClr val="CCD6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CCD6F6"/>
              </a:buClr>
              <a:buChar char="•"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学习率与 Batch Size 不匹配</a:t>
            </a:r>
            <a:endParaRPr lang="en-US" sz="1400" b="0" i="0" u="none" strike="noStrike">
              <a:solidFill>
                <a:srgbClr val="CCD6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CCD6F6"/>
              </a:buClr>
              <a:buChar char="•"/>
            </a:pPr>
            <a:r>
              <a:rPr lang="en-US" sz="1400" b="0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BatchNorm 统计量偏移，导致精度严重下降</a:t>
            </a:r>
            <a:endParaRPr lang="en-US" sz="1400" b="0" i="0" u="none" strike="noStrike">
              <a:solidFill>
                <a:srgbClr val="CCD6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86500" y="1651000"/>
            <a:ext cx="5143500" cy="4572000"/>
          </a:xfrm>
          <a:prstGeom prst="roundRect">
            <a:avLst>
              <a:gd name="adj" fmla="val 2777"/>
            </a:avLst>
          </a:prstGeom>
          <a:solidFill>
            <a:srgbClr val="112240">
              <a:alpha val="8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190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485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经验与教训总结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418">
            <a:off x="6540509" y="2406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D6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2667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21500" y="26416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CE6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没有银弹：拒绝教条主义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不存在适用于所有场景的“最佳”超参数，必须结合具体模型与硬件环境调优。</a:t>
            </a:r>
            <a:endParaRPr lang="en-US" sz="1300" b="0" i="0" u="none" strike="noStrike">
              <a:solidFill>
                <a:srgbClr val="CCD6F6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3556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35306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CE6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系统性思维：全局协同优化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调整 Batch Size 时，必须考虑其与学习率、优化器等组件的相互作用，避免孤立调整。</a:t>
            </a:r>
            <a:endParaRPr lang="en-US" sz="1300" b="0" i="0" u="none" strike="noStrike">
              <a:solidFill>
                <a:srgbClr val="CCD6F6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4445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44196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CE6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适度噪声：有益的随机性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深度学习并非依赖绝对精确的梯度，适度的噪声反而有助于模型的泛化能力。</a:t>
            </a:r>
            <a:endParaRPr lang="en-US" sz="1300" b="0" i="0" u="none" strike="noStrike">
              <a:solidFill>
                <a:srgbClr val="CCD6F6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588040" y="3994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0" y="4254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回顾优化成果，展望未来方向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8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270000"/>
            <a:ext cx="5334000" cy="4318000"/>
          </a:xfrm>
          <a:prstGeom prst="roundRect">
            <a:avLst>
              <a:gd name="adj" fmla="val 2941"/>
            </a:avLst>
          </a:prstGeom>
          <a:solidFill>
            <a:srgbClr val="111827">
              <a:alpha val="7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00" y="1524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19200" y="1498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项目工作总结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863608" y="1898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600" y="20955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68400" y="20574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问题修复与正确性保障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修复语法错误、环境兼容性问题及可视化Bug，确保代码稳健运行。</a:t>
            </a:r>
            <a:endParaRPr lang="en-US" sz="1200" b="0" i="0" u="none" strike="noStrike">
              <a:solidFill>
                <a:srgbClr val="CCD6F6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600" y="2730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68400" y="26924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工程化架构升级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实施模块化设计与设备无关性改造，优化训练测试流程，提升维护性。</a:t>
            </a:r>
            <a:endParaRPr lang="en-US" sz="1200" b="0" i="0" u="none" strike="noStrike">
              <a:solidFill>
                <a:srgbClr val="CCD6F6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3600" y="33655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68400" y="33274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算法策略性能提升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引入Mixup增强与Warmup调度，模型测试精度从75%提升至85%以上。</a:t>
            </a:r>
            <a:endParaRPr lang="en-US" sz="1200" b="0" i="0" u="none" strike="noStrike">
              <a:solidFill>
                <a:srgbClr val="CCD6F6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3600" y="40005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168400" y="39624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实验经验复盘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记录并分析典型实验问题，积累了宝贵的实践经验与避坑指南。</a:t>
            </a:r>
            <a:endParaRPr lang="en-US" sz="1200" b="0" i="0" u="none" strike="noStrike">
              <a:solidFill>
                <a:srgbClr val="CCD6F6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48400" y="1270000"/>
            <a:ext cx="5334000" cy="4318000"/>
          </a:xfrm>
          <a:prstGeom prst="roundRect">
            <a:avLst>
              <a:gd name="adj" fmla="val 2941"/>
            </a:avLst>
          </a:prstGeom>
          <a:solidFill>
            <a:srgbClr val="111827">
              <a:alpha val="7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02400" y="1524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1498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未来工作展望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046">
            <a:off x="6502408" y="1898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icture 1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02400" y="20955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07200" y="20574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探索更复杂的网络结构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尝试ResNet、MobileNet等经典架构，挖掘模型深层潜力。</a:t>
            </a:r>
            <a:endParaRPr lang="en-US" sz="1200" b="0" i="0" u="none" strike="noStrike">
              <a:solidFill>
                <a:srgbClr val="CCD6F6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02400" y="27305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807200" y="26924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拓展数据增强方法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研究Cutout、CutMix、Mosaic等策略，进一步提升模型泛化能力。</a:t>
            </a:r>
            <a:endParaRPr lang="en-US" sz="1200" b="0" i="0" u="none" strike="noStrike">
              <a:solidFill>
                <a:srgbClr val="CCD6F6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02400" y="33655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807200" y="33274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模型实用化与轻量化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CD6F6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研究集成学习、模型剪枝与量化技术，平衡性能与部署效率。</a:t>
            </a:r>
            <a:endParaRPr lang="en-US" sz="1200" b="0" i="0" u="none" strike="noStrike">
              <a:solidFill>
                <a:srgbClr val="CCD6F6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248400" y="4318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谢谢大家</a:t>
            </a:r>
            <a:endParaRPr lang="zh-CN" altLang="en-US" sz="24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2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3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4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5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6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7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8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9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10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11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12.xml><?xml version="1.0" encoding="utf-8"?>
<p:tagLst xmlns:p="http://schemas.openxmlformats.org/presentationml/2006/main">
  <p:tag name="KSO_WM_DIAGRAM_VIRTUALLY_FRAME" val="{&quot;height&quot;:280,&quot;left&quot;:60,&quot;top&quot;:140,&quot;width&quot;:840}"/>
</p:tagLst>
</file>

<file path=ppt/tags/tag13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1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1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16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17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18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19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0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1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2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3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4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5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6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ags/tag27.xml><?xml version="1.0" encoding="utf-8"?>
<p:tagLst xmlns:p="http://schemas.openxmlformats.org/presentationml/2006/main">
  <p:tag name="KSO_WM_DIAGRAM_VIRTUALLY_FRAME" val="{&quot;height&quot;:340,&quot;left&quot;:60,&quot;top&quot;:13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3845</Words>
  <Application>WPS 演示</Application>
  <PresentationFormat/>
  <Paragraphs>357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Arial</vt:lpstr>
      <vt:lpstr>宋体</vt:lpstr>
      <vt:lpstr>Wingdings</vt:lpstr>
      <vt:lpstr>Arial</vt:lpstr>
      <vt:lpstr>Noto Sans SC</vt:lpstr>
      <vt:lpstr>Poppins</vt:lpstr>
      <vt:lpstr>Segoe Print</vt:lpstr>
      <vt:lpstr>Consolas</vt:lpstr>
      <vt:lpstr>微软雅黑</vt:lpstr>
      <vt:lpstr>Arial Unicode MS</vt:lpstr>
      <vt:lpstr>Consolas</vt:lpstr>
      <vt:lpstr>Poppins</vt:lpstr>
      <vt:lpstr>A new day begins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WPS_1601626399</cp:lastModifiedBy>
  <cp:revision>7</cp:revision>
  <dcterms:created xsi:type="dcterms:W3CDTF">2026-02-27T08:19:00Z</dcterms:created>
  <dcterms:modified xsi:type="dcterms:W3CDTF">2026-03-05T05:25:54Z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1B5F42B28E074058B5B5AA6416A7E246_12</vt:lpwstr>
  </property>
  <property fmtid="{D5CDD505-2E9C-101B-9397-08002B2CF9AE}" pid="3" name="KSOProductBuildVer">
    <vt:lpwstr>2052-12.1.0.25225</vt:lpwstr>
  </property>
</Properties>
</file>